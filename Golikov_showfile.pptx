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1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353" autoAdjust="0"/>
  </p:normalViewPr>
  <p:slideViewPr>
    <p:cSldViewPr snapToGrid="0" snapToObjects="1">
      <p:cViewPr varScale="1">
        <p:scale>
          <a:sx n="103" d="100"/>
          <a:sy n="103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03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Зачем нужно распознавание эмоций</a:t>
            </a:r>
          </a:p>
          <a:p>
            <a:r>
              <a:rPr lang="ru-RU" dirty="0"/>
              <a:t>Основные области применения</a:t>
            </a:r>
          </a:p>
          <a:p>
            <a:r>
              <a:rPr lang="ru-RU" dirty="0"/>
              <a:t>Ключевая проблема — субъективность</a:t>
            </a:r>
            <a:endParaRPr lang="en-US" dirty="0"/>
          </a:p>
          <a:p>
            <a:endParaRPr lang="en-US" dirty="0"/>
          </a:p>
          <a:p>
            <a:r>
              <a:rPr dirty="0" err="1"/>
              <a:t>Здесь</a:t>
            </a:r>
            <a:r>
              <a:rPr dirty="0"/>
              <a:t> </a:t>
            </a:r>
            <a:r>
              <a:rPr dirty="0" err="1"/>
              <a:t>рассказываю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эмоции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сферах</a:t>
            </a:r>
            <a:r>
              <a:rPr dirty="0"/>
              <a:t>: </a:t>
            </a:r>
            <a:r>
              <a:rPr dirty="0" err="1"/>
              <a:t>безопасность</a:t>
            </a:r>
            <a:r>
              <a:rPr dirty="0"/>
              <a:t>, </a:t>
            </a:r>
            <a:r>
              <a:rPr dirty="0" err="1"/>
              <a:t>медицина</a:t>
            </a:r>
            <a:r>
              <a:rPr dirty="0"/>
              <a:t>, </a:t>
            </a:r>
            <a:r>
              <a:rPr dirty="0" err="1"/>
              <a:t>автоиндустрия</a:t>
            </a:r>
            <a:r>
              <a:rPr dirty="0"/>
              <a:t>.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сложность</a:t>
            </a:r>
            <a:r>
              <a:rPr dirty="0"/>
              <a:t> — </a:t>
            </a:r>
            <a:r>
              <a:rPr dirty="0" err="1"/>
              <a:t>эмоции</a:t>
            </a:r>
            <a:r>
              <a:rPr dirty="0"/>
              <a:t> </a:t>
            </a:r>
            <a:r>
              <a:rPr dirty="0" err="1"/>
              <a:t>выражаются</a:t>
            </a:r>
            <a:r>
              <a:rPr dirty="0"/>
              <a:t> </a:t>
            </a:r>
            <a:r>
              <a:rPr dirty="0" err="1"/>
              <a:t>по-разному</a:t>
            </a:r>
            <a:r>
              <a:rPr dirty="0"/>
              <a:t> у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людей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</a:t>
            </a:r>
            <a:r>
              <a:rPr dirty="0" err="1"/>
              <a:t>нетривиальная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Ретейл и умный маркетинг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используется: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Системы анализируют эмоции покупателей перед полками, рекламными баннерами или при выборе товара.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Оценить эффективность рекламной кампании, оптимизировать выкладку товаров и улучшить клиентский опыт.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для картинки: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Изображение человека, смотрящего на цифровой рекламный щит, рядом с которым график в реальном времени показывает его удивление и интерес.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Безопасность и контроль доступа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используется: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Распознавание эмоций в системах видеонаблюдения в аэропортах, на вокзалах или критически важных объектах.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Выявление потенциально опасных лиц, находящихся в состоянии стресса, паники или агрессии, для предотвращения инцидентов.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для картинки: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Коллаж из нескольких лиц в толпе, где одно из лиц подсвечено системой как демонстрирующее признаки нервозности, с выводом соответствующего предупреждения.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Дистанционная медицина и ментальное здоровье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используется: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телемедицинских приложениях для оценки эмоционального состояния пациента, отслеживания динамики при терапии депрессии или тревожных расстройств.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Предоставить врачу объективные данные о состоянии пациента между сеансами и помочь в ранней диагностике.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для картинки: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Скриншот интерфейса видео-конференции врача и пациента, где в углу экрана отображается график с динамикой основных эмоций (грусть, радость, нейтральность) во время сеанса.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Образование и дистанционное обучение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используется: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Система анализирует эмоции студентов во время онлайн-лекций или выполнения заданий на образовательных платформах.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Определить моменты, когда материал вызывает скуку или сложности, и адаптировать подачу информации для повышения вовлеченности.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для картинки: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Студент за ноутбуком, на экране которого идет лекция. Рядом с его лицом — индикатор, показывающий "заинтересованность" и "концентрацию".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Разработка пользовательских интерфейсов (UX/UI)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используется: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Тестирование прототипов приложений и веб-сайтов: система фиксирует мимику пользователей при взаимодействии с интерфейсом.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Выявить элементы, которые вызывают разочарование или путаницу (например, гнев или отвращение), и создать более интуитивный и дружелюбный продукт.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для картинки: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Человек использует новое приложение на смартфоне. На втором экране виден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heatmap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(тепловая карта) интерфейса, где красным подсвечена кнопка, вызвавшая у пользователя недоумение.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/>
              <a:t>Многоклассовая</a:t>
            </a:r>
            <a:r>
              <a:rPr lang="ru-RU" dirty="0"/>
              <a:t> классификация эмоций</a:t>
            </a:r>
          </a:p>
          <a:p>
            <a:r>
              <a:rPr lang="ru-RU" dirty="0"/>
              <a:t>Сложности: схожесть эмоций</a:t>
            </a:r>
          </a:p>
          <a:p>
            <a:r>
              <a:rPr lang="ru-RU" dirty="0"/>
              <a:t>Нейтральный класс — источник ошибок</a:t>
            </a:r>
          </a:p>
          <a:p>
            <a:endParaRPr lang="ru-RU" dirty="0"/>
          </a:p>
          <a:p>
            <a:endParaRPr lang="ru-RU" dirty="0"/>
          </a:p>
          <a:p>
            <a:r>
              <a:rPr dirty="0" err="1"/>
              <a:t>Задача</a:t>
            </a:r>
            <a:r>
              <a:rPr dirty="0"/>
              <a:t> — </a:t>
            </a:r>
            <a:r>
              <a:rPr dirty="0" err="1"/>
              <a:t>классифицировать</a:t>
            </a:r>
            <a:r>
              <a:rPr dirty="0"/>
              <a:t> </a:t>
            </a:r>
            <a:r>
              <a:rPr dirty="0" err="1"/>
              <a:t>эмоции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лицам</a:t>
            </a:r>
            <a:r>
              <a:rPr dirty="0"/>
              <a:t>. </a:t>
            </a:r>
            <a:r>
              <a:rPr dirty="0" err="1"/>
              <a:t>Главные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: </a:t>
            </a:r>
            <a:r>
              <a:rPr dirty="0" err="1"/>
              <a:t>похожие</a:t>
            </a:r>
            <a:r>
              <a:rPr dirty="0"/>
              <a:t> </a:t>
            </a:r>
            <a:r>
              <a:rPr dirty="0" err="1"/>
              <a:t>выражения</a:t>
            </a:r>
            <a:r>
              <a:rPr dirty="0"/>
              <a:t> («</a:t>
            </a:r>
            <a:r>
              <a:rPr dirty="0" err="1"/>
              <a:t>страх</a:t>
            </a:r>
            <a:r>
              <a:rPr dirty="0"/>
              <a:t>» и «</a:t>
            </a:r>
            <a:r>
              <a:rPr dirty="0" err="1"/>
              <a:t>грусть</a:t>
            </a:r>
            <a:r>
              <a:rPr dirty="0"/>
              <a:t>»), </a:t>
            </a:r>
            <a:r>
              <a:rPr dirty="0" err="1"/>
              <a:t>нейтральное</a:t>
            </a:r>
            <a:r>
              <a:rPr dirty="0"/>
              <a:t> </a:t>
            </a:r>
            <a:r>
              <a:rPr dirty="0" err="1"/>
              <a:t>лицо</a:t>
            </a:r>
            <a:r>
              <a:rPr dirty="0"/>
              <a:t>, </a:t>
            </a:r>
            <a:r>
              <a:rPr dirty="0" err="1"/>
              <a:t>шумные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в FER-2013.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FER-2013 — основной датасет</a:t>
            </a:r>
          </a:p>
          <a:p>
            <a:r>
              <a:rPr lang="ru-RU" dirty="0"/>
              <a:t>CAER-S — для видео</a:t>
            </a:r>
          </a:p>
          <a:p>
            <a:r>
              <a:rPr lang="ru-RU" dirty="0"/>
              <a:t>Предобработка: </a:t>
            </a:r>
            <a:r>
              <a:rPr lang="ru-RU" dirty="0" err="1"/>
              <a:t>grayscale</a:t>
            </a:r>
            <a:r>
              <a:rPr lang="ru-RU" dirty="0"/>
              <a:t>, нормализация, аугментации</a:t>
            </a:r>
            <a:endParaRPr lang="en-US" dirty="0"/>
          </a:p>
          <a:p>
            <a:endParaRPr lang="en-US" dirty="0"/>
          </a:p>
          <a:p>
            <a:r>
              <a:rPr dirty="0" err="1"/>
              <a:t>Использовал</a:t>
            </a:r>
            <a:r>
              <a:rPr dirty="0"/>
              <a:t> FER-2013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фото</a:t>
            </a:r>
            <a:r>
              <a:rPr dirty="0"/>
              <a:t> и CAER-S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видео</a:t>
            </a:r>
            <a:r>
              <a:rPr dirty="0"/>
              <a:t>. </a:t>
            </a:r>
            <a:r>
              <a:rPr dirty="0" err="1"/>
              <a:t>Предобработка</a:t>
            </a:r>
            <a:r>
              <a:rPr dirty="0"/>
              <a:t> </a:t>
            </a:r>
            <a:r>
              <a:rPr dirty="0" err="1"/>
              <a:t>включала</a:t>
            </a:r>
            <a:r>
              <a:rPr dirty="0"/>
              <a:t> </a:t>
            </a:r>
            <a:r>
              <a:rPr dirty="0" err="1"/>
              <a:t>перевод</a:t>
            </a:r>
            <a:r>
              <a:rPr dirty="0"/>
              <a:t> в grayscale, </a:t>
            </a:r>
            <a:r>
              <a:rPr dirty="0" err="1"/>
              <a:t>нормализацию</a:t>
            </a:r>
            <a:r>
              <a:rPr dirty="0"/>
              <a:t> и </a:t>
            </a:r>
            <a:r>
              <a:rPr dirty="0" err="1"/>
              <a:t>аугментации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Простые </a:t>
            </a:r>
            <a:r>
              <a:rPr lang="en-US" dirty="0"/>
              <a:t>CNN → </a:t>
            </a:r>
            <a:r>
              <a:rPr lang="ru-RU" dirty="0"/>
              <a:t>переобучение</a:t>
            </a:r>
          </a:p>
          <a:p>
            <a:r>
              <a:rPr lang="en-US" dirty="0"/>
              <a:t>CNN </a:t>
            </a:r>
            <a:r>
              <a:rPr lang="ru-RU" dirty="0"/>
              <a:t>с </a:t>
            </a:r>
            <a:r>
              <a:rPr lang="en-US" dirty="0" err="1"/>
              <a:t>BatchNorm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Dropout</a:t>
            </a:r>
          </a:p>
          <a:p>
            <a:r>
              <a:rPr lang="en-US" dirty="0"/>
              <a:t>ResNet50 (transfer learning)</a:t>
            </a:r>
          </a:p>
          <a:p>
            <a:endParaRPr lang="en-US" dirty="0"/>
          </a:p>
          <a:p>
            <a:r>
              <a:rPr dirty="0" err="1"/>
              <a:t>Было</a:t>
            </a:r>
            <a:r>
              <a:rPr dirty="0"/>
              <a:t> </a:t>
            </a:r>
            <a:r>
              <a:rPr dirty="0" err="1"/>
              <a:t>протестировано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20 </a:t>
            </a:r>
            <a:r>
              <a:rPr dirty="0" err="1"/>
              <a:t>моделей</a:t>
            </a:r>
            <a:r>
              <a:rPr dirty="0"/>
              <a:t>. </a:t>
            </a:r>
            <a:r>
              <a:rPr dirty="0" err="1"/>
              <a:t>Эволюция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простых</a:t>
            </a:r>
            <a:r>
              <a:rPr dirty="0"/>
              <a:t> CNN </a:t>
            </a:r>
            <a:r>
              <a:rPr dirty="0" err="1"/>
              <a:t>до</a:t>
            </a:r>
            <a:r>
              <a:rPr dirty="0"/>
              <a:t> ResNet50 с transfer learning и </a:t>
            </a:r>
            <a:r>
              <a:rPr dirty="0" err="1"/>
              <a:t>постепенной</a:t>
            </a:r>
            <a:r>
              <a:rPr dirty="0"/>
              <a:t> </a:t>
            </a:r>
            <a:r>
              <a:rPr dirty="0" err="1"/>
              <a:t>разморозкой</a:t>
            </a:r>
            <a:r>
              <a:rPr dirty="0"/>
              <a:t> </a:t>
            </a:r>
            <a:r>
              <a:rPr dirty="0" err="1"/>
              <a:t>слоёв</a:t>
            </a:r>
            <a:r>
              <a:rPr dirty="0"/>
              <a:t>.</a:t>
            </a:r>
            <a:endParaRPr lang="ru-RU" dirty="0"/>
          </a:p>
          <a:p>
            <a:endParaRPr lang="ru-RU" dirty="0"/>
          </a:p>
          <a:p>
            <a:r>
              <a:rPr lang="en-US" dirty="0"/>
              <a:t>CNN v1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/>
              <a:t>Accuracy</a:t>
            </a:r>
            <a:r>
              <a:rPr lang="ru-RU" dirty="0"/>
              <a:t> = 68%, F1-macro = 71%</a:t>
            </a:r>
          </a:p>
          <a:p>
            <a:r>
              <a:rPr lang="ru-RU" dirty="0"/>
              <a:t>Ошибки: нейтральный класс и путаница эмоций</a:t>
            </a:r>
          </a:p>
          <a:p>
            <a:endParaRPr lang="ru-RU" dirty="0"/>
          </a:p>
          <a:p>
            <a:endParaRPr lang="ru-RU" dirty="0"/>
          </a:p>
          <a:p>
            <a:r>
              <a:rPr dirty="0" err="1"/>
              <a:t>Результаты</a:t>
            </a:r>
            <a:r>
              <a:rPr dirty="0"/>
              <a:t>: Accuracy 68%, F1-macro 71%. </a:t>
            </a:r>
            <a:r>
              <a:rPr dirty="0" err="1"/>
              <a:t>Нейтральный</a:t>
            </a:r>
            <a:r>
              <a:rPr dirty="0"/>
              <a:t> </a:t>
            </a:r>
            <a:r>
              <a:rPr dirty="0" err="1"/>
              <a:t>класс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путался</a:t>
            </a:r>
            <a:r>
              <a:rPr dirty="0"/>
              <a:t> с </a:t>
            </a:r>
            <a:r>
              <a:rPr dirty="0" err="1"/>
              <a:t>другими</a:t>
            </a:r>
            <a:r>
              <a:rPr dirty="0"/>
              <a:t>.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путаница</a:t>
            </a:r>
            <a:r>
              <a:rPr dirty="0"/>
              <a:t> </a:t>
            </a:r>
            <a:r>
              <a:rPr dirty="0" err="1"/>
              <a:t>наблюдалась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«</a:t>
            </a:r>
            <a:r>
              <a:rPr dirty="0" err="1"/>
              <a:t>страхом</a:t>
            </a:r>
            <a:r>
              <a:rPr dirty="0"/>
              <a:t>» и «</a:t>
            </a:r>
            <a:r>
              <a:rPr dirty="0" err="1"/>
              <a:t>грустью</a:t>
            </a:r>
            <a:r>
              <a:rPr dirty="0"/>
              <a:t>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/>
              <a:t>ResNet</a:t>
            </a:r>
            <a:r>
              <a:rPr lang="ru-RU" dirty="0"/>
              <a:t> + LSTM</a:t>
            </a:r>
          </a:p>
          <a:p>
            <a:r>
              <a:rPr lang="ru-RU" dirty="0"/>
              <a:t>Первые тесты → слабые результаты</a:t>
            </a:r>
          </a:p>
          <a:p>
            <a:r>
              <a:rPr lang="ru-RU" dirty="0"/>
              <a:t>24 кадра, усреднение → </a:t>
            </a:r>
            <a:r>
              <a:rPr lang="ru-RU" dirty="0" err="1"/>
              <a:t>Accuracy</a:t>
            </a:r>
            <a:r>
              <a:rPr lang="ru-RU" dirty="0"/>
              <a:t> ~40%</a:t>
            </a:r>
            <a:endParaRPr lang="en-US" dirty="0"/>
          </a:p>
          <a:p>
            <a:endParaRPr lang="en-US" dirty="0"/>
          </a:p>
          <a:p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видео</a:t>
            </a:r>
            <a:r>
              <a:rPr dirty="0"/>
              <a:t> </a:t>
            </a:r>
            <a:r>
              <a:rPr dirty="0" err="1"/>
              <a:t>сделал</a:t>
            </a:r>
            <a:r>
              <a:rPr dirty="0"/>
              <a:t> </a:t>
            </a:r>
            <a:r>
              <a:rPr dirty="0" err="1"/>
              <a:t>ResNet+LSTM</a:t>
            </a:r>
            <a:r>
              <a:rPr dirty="0"/>
              <a:t>.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были</a:t>
            </a:r>
            <a:r>
              <a:rPr dirty="0"/>
              <a:t> </a:t>
            </a:r>
            <a:r>
              <a:rPr dirty="0" err="1"/>
              <a:t>плохие</a:t>
            </a:r>
            <a:r>
              <a:rPr dirty="0"/>
              <a:t> (batch=1, </a:t>
            </a:r>
            <a:r>
              <a:rPr dirty="0" err="1"/>
              <a:t>последний</a:t>
            </a:r>
            <a:r>
              <a:rPr dirty="0"/>
              <a:t> </a:t>
            </a:r>
            <a:r>
              <a:rPr dirty="0" err="1"/>
              <a:t>кадр</a:t>
            </a:r>
            <a:r>
              <a:rPr dirty="0"/>
              <a:t>).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усреднения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24 </a:t>
            </a:r>
            <a:r>
              <a:rPr dirty="0" err="1"/>
              <a:t>кадрам</a:t>
            </a:r>
            <a:r>
              <a:rPr dirty="0"/>
              <a:t> accuracy </a:t>
            </a:r>
            <a:r>
              <a:rPr dirty="0" err="1"/>
              <a:t>вырос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~40% </a:t>
            </a:r>
            <a:r>
              <a:rPr dirty="0" err="1"/>
              <a:t>за</a:t>
            </a:r>
            <a:r>
              <a:rPr dirty="0"/>
              <a:t> 5 </a:t>
            </a:r>
            <a:r>
              <a:rPr dirty="0" err="1"/>
              <a:t>эпох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FER-2013 зашумлён</a:t>
            </a:r>
          </a:p>
          <a:p>
            <a:r>
              <a:rPr lang="ru-RU" dirty="0"/>
              <a:t>Ограниченные ресурсы</a:t>
            </a:r>
          </a:p>
          <a:p>
            <a:r>
              <a:rPr lang="ru-RU" dirty="0"/>
              <a:t>Перспективы: новые датасеты, трансформеры, ансамбли</a:t>
            </a:r>
          </a:p>
          <a:p>
            <a:endParaRPr lang="ru-RU" dirty="0"/>
          </a:p>
          <a:p>
            <a:r>
              <a:rPr dirty="0" err="1"/>
              <a:t>Ограничения</a:t>
            </a:r>
            <a:r>
              <a:rPr dirty="0"/>
              <a:t>: </a:t>
            </a:r>
            <a:r>
              <a:rPr dirty="0" err="1"/>
              <a:t>зашумлённость</a:t>
            </a:r>
            <a:r>
              <a:rPr dirty="0"/>
              <a:t> FER-2013, </a:t>
            </a:r>
            <a:r>
              <a:rPr dirty="0" err="1"/>
              <a:t>мало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попробовал</a:t>
            </a:r>
            <a:r>
              <a:rPr dirty="0"/>
              <a:t> </a:t>
            </a:r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архитектуры</a:t>
            </a:r>
            <a:r>
              <a:rPr dirty="0"/>
              <a:t>. </a:t>
            </a:r>
            <a:r>
              <a:rPr dirty="0" err="1"/>
              <a:t>Перспективы</a:t>
            </a:r>
            <a:r>
              <a:rPr dirty="0"/>
              <a:t> —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AffectNet</a:t>
            </a:r>
            <a:r>
              <a:rPr dirty="0"/>
              <a:t>, RAF-DB, </a:t>
            </a:r>
            <a:r>
              <a:rPr dirty="0" err="1"/>
              <a:t>ансамбли</a:t>
            </a:r>
            <a:r>
              <a:rPr dirty="0"/>
              <a:t> и </a:t>
            </a:r>
            <a:r>
              <a:rPr dirty="0" err="1"/>
              <a:t>видеоаналитику</a:t>
            </a:r>
            <a:r>
              <a:rPr dirty="0"/>
              <a:t> с </a:t>
            </a:r>
            <a:r>
              <a:rPr dirty="0" err="1"/>
              <a:t>трансформерами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ML </a:t>
            </a:r>
            <a:r>
              <a:rPr lang="ru-RU" dirty="0"/>
              <a:t>инженер</a:t>
            </a:r>
          </a:p>
          <a:p>
            <a:r>
              <a:rPr lang="ru-RU" dirty="0"/>
              <a:t>Голиков М.В.</a:t>
            </a:r>
          </a:p>
        </p:txBody>
      </p:sp>
    </p:spTree>
    <p:extLst>
      <p:ext uri="{BB962C8B-B14F-4D97-AF65-F5344CB8AC3E}">
        <p14:creationId xmlns:p14="http://schemas.microsoft.com/office/powerpoint/2010/main" val="246212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9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4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8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6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2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7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5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0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74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3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36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5060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25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56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91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17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2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505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1.png"/><Relationship Id="rId4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12" Type="http://schemas.openxmlformats.org/officeDocument/2006/relationships/image" Target="../media/image2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11" Type="http://schemas.openxmlformats.org/officeDocument/2006/relationships/image" Target="../media/image22.jp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84466-ADBC-6766-4902-97277B3BF7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000" dirty="0"/>
              <a:t>РАСПОЗНАВАНИЕ ЭМОЦИЙ ПО ИЗОБРАЖЕНИЯМ ЛИЦ С ИСПОЛЬЗОВАНИЕМ МЕТОДОВ КОМПЬЮТЕРНОГО ЗРЕНИЯ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92423D-AFE7-46DA-997D-3C3309335C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ru-RU" sz="1300" dirty="0"/>
              <a:t>Голиков Михаил Вячеславович БВТ2402</a:t>
            </a:r>
          </a:p>
        </p:txBody>
      </p:sp>
    </p:spTree>
    <p:extLst>
      <p:ext uri="{BB962C8B-B14F-4D97-AF65-F5344CB8AC3E}">
        <p14:creationId xmlns:p14="http://schemas.microsoft.com/office/powerpoint/2010/main" val="133965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Введение</a:t>
            </a:r>
            <a:r>
              <a:rPr dirty="0">
                <a:solidFill>
                  <a:schemeClr val="bg1"/>
                </a:solidFill>
              </a:rPr>
              <a:t> и </a:t>
            </a:r>
            <a:r>
              <a:rPr dirty="0" err="1">
                <a:solidFill>
                  <a:schemeClr val="bg1"/>
                </a:solidFill>
              </a:rPr>
              <a:t>актуальность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1" y="2607477"/>
            <a:ext cx="2752724" cy="3486151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 Ретейл и умный маркетинг</a:t>
            </a:r>
          </a:p>
          <a:p>
            <a:r>
              <a:rPr lang="ru-RU" dirty="0">
                <a:solidFill>
                  <a:schemeClr val="bg1"/>
                </a:solidFill>
              </a:rPr>
              <a:t>Безопасность и контроль доступа</a:t>
            </a:r>
          </a:p>
          <a:p>
            <a:r>
              <a:rPr lang="ru-RU" dirty="0">
                <a:solidFill>
                  <a:schemeClr val="bg1"/>
                </a:solidFill>
              </a:rPr>
              <a:t>Медицина и ментальное здоровье</a:t>
            </a:r>
          </a:p>
          <a:p>
            <a:r>
              <a:rPr lang="ru-RU" dirty="0">
                <a:solidFill>
                  <a:schemeClr val="bg1"/>
                </a:solidFill>
              </a:rPr>
              <a:t>Образование и дистанционное обучение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026" name="Picture 2" descr="Распознавание компонентов эмоций в HCI - Новости и аналитика инвестиций -  Регион-Инвест">
            <a:extLst>
              <a:ext uri="{FF2B5EF4-FFF2-40B4-BE49-F238E27FC236}">
                <a16:creationId xmlns:a16="http://schemas.microsoft.com/office/drawing/2014/main" id="{27A58AA5-E468-E9CD-38BA-A61924B57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2607477"/>
            <a:ext cx="5753100" cy="3486150"/>
          </a:xfrm>
          <a:prstGeom prst="rect">
            <a:avLst/>
          </a:prstGeom>
          <a:noFill/>
          <a:effectLst>
            <a:outerShdw blurRad="457200" dist="38100" dir="2700000" sx="104000" sy="104000" algn="tl" rotWithShape="0">
              <a:prstClr val="black">
                <a:alpha val="3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Задач</a:t>
            </a:r>
            <a:r>
              <a:rPr lang="ru-RU" dirty="0"/>
              <a:t>И</a:t>
            </a:r>
            <a:r>
              <a:rPr dirty="0"/>
              <a:t> и </a:t>
            </a:r>
            <a:r>
              <a:rPr dirty="0" err="1"/>
              <a:t>трудности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3124" y="2735262"/>
            <a:ext cx="2990851" cy="3084371"/>
          </a:xfrm>
        </p:spPr>
        <p:txBody>
          <a:bodyPr>
            <a:normAutofit fontScale="92500" lnSpcReduction="10000"/>
          </a:bodyPr>
          <a:lstStyle/>
          <a:p>
            <a:r>
              <a:rPr lang="ru-RU" sz="2000" dirty="0"/>
              <a:t>Научиться определять эмоции разных людей</a:t>
            </a:r>
          </a:p>
          <a:p>
            <a:r>
              <a:rPr lang="ru-RU" sz="2000" dirty="0"/>
              <a:t>Справиться с дисбалансом датасета</a:t>
            </a:r>
          </a:p>
          <a:p>
            <a:r>
              <a:rPr lang="ru-RU" sz="2000" dirty="0"/>
              <a:t>Решить проблему </a:t>
            </a:r>
            <a:r>
              <a:rPr lang="en-US" sz="2000" dirty="0"/>
              <a:t>“</a:t>
            </a:r>
            <a:r>
              <a:rPr lang="ru-RU" sz="2000" dirty="0"/>
              <a:t>нейтрального</a:t>
            </a:r>
            <a:r>
              <a:rPr lang="en-US" sz="2000" dirty="0"/>
              <a:t>”</a:t>
            </a:r>
            <a:r>
              <a:rPr lang="ru-RU" sz="2000" dirty="0"/>
              <a:t> класса</a:t>
            </a:r>
          </a:p>
          <a:p>
            <a:r>
              <a:rPr lang="ru-RU" sz="2000" dirty="0"/>
              <a:t>Подключить </a:t>
            </a:r>
            <a:r>
              <a:rPr lang="en-US" sz="2000" dirty="0"/>
              <a:t>LSTM</a:t>
            </a:r>
            <a:r>
              <a:rPr lang="ru-RU" sz="2000" dirty="0"/>
              <a:t> для видеоряда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277B96-C1E4-7994-BE56-3A455CA7B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 contrast="-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2320995"/>
            <a:ext cx="5253439" cy="3912906"/>
          </a:xfrm>
          <a:prstGeom prst="rect">
            <a:avLst/>
          </a:prstGeom>
          <a:ln>
            <a:noFill/>
          </a:ln>
          <a:effectLst>
            <a:outerShdw blurRad="622300" algn="ctr" rotWithShape="0">
              <a:schemeClr val="tx1">
                <a:alpha val="36000"/>
              </a:scheme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77F9523B-07A2-BBA6-E1B4-23F991DEB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 contrast="-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945" y="2386884"/>
            <a:ext cx="3299460" cy="3344084"/>
          </a:xfrm>
          <a:prstGeom prst="rect">
            <a:avLst/>
          </a:prstGeom>
          <a:ln>
            <a:noFill/>
          </a:ln>
          <a:effectLst>
            <a:outerShdw blurRad="381000" dist="25400" dir="2700000" sx="99000" sy="99000" algn="tl" rotWithShape="0">
              <a:schemeClr val="tx1">
                <a:alpha val="50000"/>
              </a:scheme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2F0568-51CA-45E0-150E-0856B33A2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" contrast="-15000"/>
                    </a14:imgEffect>
                  </a14:imgLayer>
                </a14:imgProps>
              </a:ext>
            </a:extLst>
          </a:blip>
          <a:srcRect t="3370"/>
          <a:stretch>
            <a:fillRect/>
          </a:stretch>
        </p:blipFill>
        <p:spPr>
          <a:xfrm>
            <a:off x="4659733" y="2894896"/>
            <a:ext cx="4153796" cy="2328060"/>
          </a:xfrm>
          <a:prstGeom prst="rect">
            <a:avLst/>
          </a:prstGeom>
          <a:ln>
            <a:noFill/>
          </a:ln>
          <a:effectLst>
            <a:outerShdw blurRad="571500" dist="139700" dir="2700000" sx="94000" sy="94000" algn="tl" rotWithShape="0">
              <a:schemeClr val="tx1">
                <a:alpha val="41000"/>
              </a:scheme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157845C-0F15-E1E8-EEFA-7149ADAF6A1F}"/>
              </a:ext>
            </a:extLst>
          </p:cNvPr>
          <p:cNvSpPr txBox="1">
            <a:spLocks/>
          </p:cNvSpPr>
          <p:nvPr/>
        </p:nvSpPr>
        <p:spPr>
          <a:xfrm>
            <a:off x="4659733" y="5930902"/>
            <a:ext cx="4153796" cy="59418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CAER-S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F59BE0-945D-D085-DF5D-D043F60511B4}"/>
              </a:ext>
            </a:extLst>
          </p:cNvPr>
          <p:cNvSpPr txBox="1">
            <a:spLocks/>
          </p:cNvSpPr>
          <p:nvPr/>
        </p:nvSpPr>
        <p:spPr>
          <a:xfrm>
            <a:off x="665945" y="5930902"/>
            <a:ext cx="3299461" cy="59418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FER-2013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4775B74-CA66-2450-E983-A19A11A1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968" y="764373"/>
            <a:ext cx="6343672" cy="1293028"/>
          </a:xfrm>
        </p:spPr>
        <p:txBody>
          <a:bodyPr/>
          <a:lstStyle/>
          <a:p>
            <a:r>
              <a:rPr lang="ru-RU" dirty="0"/>
              <a:t>Данные и предобработка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75000"/>
              </a:schemeClr>
            </a:gs>
            <a:gs pos="36000">
              <a:schemeClr val="tx1">
                <a:lumMod val="50000"/>
                <a:lumOff val="50000"/>
              </a:schemeClr>
            </a:gs>
            <a:gs pos="75000">
              <a:schemeClr val="tx1">
                <a:lumMod val="65000"/>
                <a:lumOff val="35000"/>
              </a:schemeClr>
            </a:gs>
            <a:gs pos="100000">
              <a:schemeClr val="tx1">
                <a:lumMod val="65000"/>
                <a:lumOff val="35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AF5A1BA2-16B2-FF40-EA79-CBFB327D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Архитектуры моделей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DB71DCA-E04D-C4C9-6E0B-5EBB4F93FB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2466" y="2282296"/>
            <a:ext cx="3478468" cy="36207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731CD9-A5D8-1786-AA4F-18DC4C7E0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05"/>
          <a:stretch>
            <a:fillRect/>
          </a:stretch>
        </p:blipFill>
        <p:spPr bwMode="auto">
          <a:xfrm>
            <a:off x="4572000" y="2719879"/>
            <a:ext cx="939184" cy="39531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DB7C03-D7C5-04B4-9BC2-5D251B8A3E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 bwMode="auto">
          <a:xfrm>
            <a:off x="6818825" y="2246797"/>
            <a:ext cx="1336129" cy="33346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7249EEC-A552-4546-F954-BFF3F5A5FE01}"/>
              </a:ext>
            </a:extLst>
          </p:cNvPr>
          <p:cNvSpPr txBox="1">
            <a:spLocks/>
          </p:cNvSpPr>
          <p:nvPr/>
        </p:nvSpPr>
        <p:spPr>
          <a:xfrm>
            <a:off x="432466" y="6127980"/>
            <a:ext cx="3478468" cy="490773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CNN v1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6DA0226-4708-50AD-82E1-2333072753F9}"/>
              </a:ext>
            </a:extLst>
          </p:cNvPr>
          <p:cNvSpPr txBox="1">
            <a:spLocks/>
          </p:cNvSpPr>
          <p:nvPr/>
        </p:nvSpPr>
        <p:spPr>
          <a:xfrm>
            <a:off x="4410176" y="2246797"/>
            <a:ext cx="1262831" cy="28368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Dropout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9CF29EE-9FE4-D53C-B155-5743B9AA5892}"/>
              </a:ext>
            </a:extLst>
          </p:cNvPr>
          <p:cNvSpPr txBox="1">
            <a:spLocks/>
          </p:cNvSpPr>
          <p:nvPr/>
        </p:nvSpPr>
        <p:spPr>
          <a:xfrm>
            <a:off x="6172250" y="5825305"/>
            <a:ext cx="2559016" cy="60534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err="1"/>
              <a:t>ResNet+LSTM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7000">
              <a:schemeClr val="bg1">
                <a:lumMod val="95000"/>
              </a:schemeClr>
            </a:gs>
            <a:gs pos="64000">
              <a:schemeClr val="bg1">
                <a:lumMod val="85000"/>
              </a:schemeClr>
            </a:gs>
            <a:gs pos="100000">
              <a:schemeClr val="bg1">
                <a:lumMod val="65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12" y="764373"/>
            <a:ext cx="6534228" cy="1293028"/>
          </a:xfrm>
        </p:spPr>
        <p:txBody>
          <a:bodyPr/>
          <a:lstStyle/>
          <a:p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обучения</a:t>
            </a:r>
            <a:endParaRPr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E35C0A0-4511-3891-CF88-924DA4285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 contrast="-15000"/>
                    </a14:imgEffect>
                  </a14:imgLayer>
                </a14:imgProps>
              </a:ext>
            </a:extLst>
          </a:blip>
          <a:srcRect t="12784" r="8572" b="7109"/>
          <a:stretch>
            <a:fillRect/>
          </a:stretch>
        </p:blipFill>
        <p:spPr>
          <a:xfrm>
            <a:off x="147483" y="2674282"/>
            <a:ext cx="4309498" cy="32549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5CC9A5-AD80-D73B-C3E3-1858C71724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" contrast="-15000"/>
                    </a14:imgEffect>
                  </a14:imgLayer>
                </a14:imgProps>
              </a:ext>
            </a:extLst>
          </a:blip>
          <a:srcRect l="839" t="5717" r="7127"/>
          <a:stretch>
            <a:fillRect/>
          </a:stretch>
        </p:blipFill>
        <p:spPr bwMode="auto">
          <a:xfrm>
            <a:off x="4758164" y="2674282"/>
            <a:ext cx="4238353" cy="32549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2459FB-6269-38DA-E3B0-AE6C28D273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76000" contrast="100000"/>
                    </a14:imgEffect>
                  </a14:imgLayer>
                </a14:imgProps>
              </a:ext>
            </a:extLst>
          </a:blip>
          <a:srcRect l="16396" t="14926" r="2049" b="75467"/>
          <a:stretch>
            <a:fillRect/>
          </a:stretch>
        </p:blipFill>
        <p:spPr>
          <a:xfrm>
            <a:off x="1681185" y="2004060"/>
            <a:ext cx="5291115" cy="29861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900" dirty="0"/>
              <a:t>Анализ в</a:t>
            </a:r>
            <a:r>
              <a:rPr sz="3900" dirty="0" err="1"/>
              <a:t>идео</a:t>
            </a:r>
            <a:r>
              <a:rPr sz="3900" dirty="0"/>
              <a:t> (CAER-S)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E5C20B5-CC4D-FE1E-F9B8-5E87D3DE3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62000"/>
                    </a14:imgEffect>
                  </a14:imgLayer>
                </a14:imgProps>
              </a:ext>
            </a:extLst>
          </a:blip>
          <a:srcRect l="1701" t="5444" r="3728" b="3493"/>
          <a:stretch>
            <a:fillRect/>
          </a:stretch>
        </p:blipFill>
        <p:spPr>
          <a:xfrm>
            <a:off x="1092808" y="2416977"/>
            <a:ext cx="7456832" cy="32313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</a:rPr>
              <a:t>Ограничения</a:t>
            </a:r>
            <a:r>
              <a:rPr dirty="0">
                <a:solidFill>
                  <a:schemeClr val="bg1"/>
                </a:solidFill>
              </a:rPr>
              <a:t> и </a:t>
            </a:r>
            <a:r>
              <a:rPr dirty="0" err="1">
                <a:solidFill>
                  <a:schemeClr val="bg1"/>
                </a:solidFill>
              </a:rPr>
              <a:t>перспективы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AECDB61-D76D-110D-FD57-D251B3A0F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53" y="2576035"/>
            <a:ext cx="4225290" cy="1424940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Больше 100 часов обучения!</a:t>
            </a:r>
          </a:p>
          <a:p>
            <a:pPr marL="0" indent="0">
              <a:buNone/>
            </a:pPr>
            <a:endParaRPr lang="ru-RU" sz="5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Перейти на работу на сервере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8318C7-16AD-BB44-2C84-6A38AC260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098" y="3501382"/>
            <a:ext cx="1047749" cy="104774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CEF7C19-CFDA-8E4E-0718-A595FD9A0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61" y="3509931"/>
            <a:ext cx="1047751" cy="10477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E99FE3-2787-FD5F-5C52-B6EEB5580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768" y="2457444"/>
            <a:ext cx="1047750" cy="104775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625D231-B9F3-A91A-905F-72CDD5AA7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017" y="2457444"/>
            <a:ext cx="1047751" cy="104775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52284C3-91AF-55D9-E893-FED2189122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9349" y="3507564"/>
            <a:ext cx="1047749" cy="1047749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4ECEC93-5952-6732-9231-A1773ECF98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278" y="2518884"/>
            <a:ext cx="523875" cy="5238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B2C2E7A-63C1-4786-F99E-A070B886D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277" y="4272436"/>
            <a:ext cx="523875" cy="52387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3ED2CF-347D-B78E-11F8-6E518EC412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274" y="3286597"/>
            <a:ext cx="523878" cy="52387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0B48D71-BEDE-00CE-DF2B-B46D246763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278" y="4953468"/>
            <a:ext cx="523878" cy="523878"/>
          </a:xfrm>
          <a:prstGeom prst="rect">
            <a:avLst/>
          </a:prstGeom>
        </p:spPr>
      </p:pic>
      <p:sp>
        <p:nvSpPr>
          <p:cNvPr id="35" name="Объект 6">
            <a:extLst>
              <a:ext uri="{FF2B5EF4-FFF2-40B4-BE49-F238E27FC236}">
                <a16:creationId xmlns:a16="http://schemas.microsoft.com/office/drawing/2014/main" id="{AE7F83D5-9649-9BAB-3B39-53732207D620}"/>
              </a:ext>
            </a:extLst>
          </p:cNvPr>
          <p:cNvSpPr txBox="1">
            <a:spLocks/>
          </p:cNvSpPr>
          <p:nvPr/>
        </p:nvSpPr>
        <p:spPr>
          <a:xfrm>
            <a:off x="759152" y="4381963"/>
            <a:ext cx="4225290" cy="1889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chemeClr val="bg1"/>
                </a:solidFill>
              </a:rPr>
              <a:t>Шумные данные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500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solidFill>
                  <a:schemeClr val="bg1"/>
                </a:solidFill>
              </a:rPr>
              <a:t>Использовать </a:t>
            </a:r>
            <a:r>
              <a:rPr lang="en-US" dirty="0" err="1">
                <a:solidFill>
                  <a:schemeClr val="bg1"/>
                </a:solidFill>
              </a:rPr>
              <a:t>AffectNet</a:t>
            </a:r>
            <a:endParaRPr lang="ru-RU" dirty="0">
              <a:solidFill>
                <a:schemeClr val="bg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8071936-D6F7-FB69-DF96-0494532ABE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1595" y="4557682"/>
            <a:ext cx="1047753" cy="1047753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851E2BCD-F80B-D783-8712-60CB3AA3D4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3756" y="4566233"/>
            <a:ext cx="1052530" cy="105253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BAFDDA6A-3CCF-517C-29A2-2DCB9BC441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3768" y="4557682"/>
            <a:ext cx="1061081" cy="1061081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80351F5-1C42-3BFF-AA3B-A9C33100EA3F}"/>
              </a:ext>
            </a:extLst>
          </p:cNvPr>
          <p:cNvSpPr/>
          <p:nvPr/>
        </p:nvSpPr>
        <p:spPr>
          <a:xfrm>
            <a:off x="5241595" y="2457444"/>
            <a:ext cx="3129923" cy="3147991"/>
          </a:xfrm>
          <a:prstGeom prst="rect">
            <a:avLst/>
          </a:prstGeom>
          <a:noFill/>
          <a:ln w="38100">
            <a:solidFill>
              <a:schemeClr val="bg1"/>
            </a:solidFill>
          </a:ln>
          <a:effectLst>
            <a:outerShdw blurRad="177800" dir="2700000" algn="tl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75E5F7-58CE-869F-BA91-1DBE36ABC6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4929" y="2466481"/>
            <a:ext cx="1041083" cy="10410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1485D-6859-1691-D029-9EFA0724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560898C-CA00-66F3-183F-A846EB2FC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5631096" y="2311842"/>
            <a:ext cx="2488758" cy="2488758"/>
          </a:xfrm>
          <a:prstGeom prst="ellipse">
            <a:avLst/>
          </a:prstGeom>
          <a:ln w="63500" cap="rnd">
            <a:solidFill>
              <a:srgbClr val="333333">
                <a:alpha val="10000"/>
              </a:srgbClr>
            </a:solidFill>
          </a:ln>
          <a:effectLst>
            <a:outerShdw blurRad="76200" dir="18900000" sy="23000" kx="-1200000" algn="bl" rotWithShape="0">
              <a:prstClr val="black">
                <a:alpha val="6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3D64BA-4813-075B-A026-EB00B191F6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7" t="2833" r="2375" b="2028"/>
          <a:stretch>
            <a:fillRect/>
          </a:stretch>
        </p:blipFill>
        <p:spPr>
          <a:xfrm>
            <a:off x="865970" y="2132454"/>
            <a:ext cx="3592698" cy="36782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228600" dist="38100" dir="2700000" sx="104000" sy="104000" algn="tl" rotWithShape="0">
              <a:prstClr val="black">
                <a:alpha val="2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08E36E-E1D2-70F6-F5E1-C436FF041094}"/>
              </a:ext>
            </a:extLst>
          </p:cNvPr>
          <p:cNvSpPr txBox="1"/>
          <p:nvPr/>
        </p:nvSpPr>
        <p:spPr>
          <a:xfrm>
            <a:off x="5638591" y="5188571"/>
            <a:ext cx="248126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Голиков Михаил</a:t>
            </a:r>
          </a:p>
          <a:p>
            <a:pPr algn="ctr"/>
            <a:r>
              <a:rPr lang="en-US" sz="1500" dirty="0"/>
              <a:t>ML </a:t>
            </a:r>
            <a:r>
              <a:rPr lang="ru-RU" sz="1500" dirty="0"/>
              <a:t>инженер</a:t>
            </a:r>
          </a:p>
        </p:txBody>
      </p:sp>
    </p:spTree>
    <p:extLst>
      <p:ext uri="{BB962C8B-B14F-4D97-AF65-F5344CB8AC3E}">
        <p14:creationId xmlns:p14="http://schemas.microsoft.com/office/powerpoint/2010/main" val="660997578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164</TotalTime>
  <Words>768</Words>
  <Application>Microsoft Office PowerPoint</Application>
  <PresentationFormat>Экран (4:3)</PresentationFormat>
  <Paragraphs>83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След самолета</vt:lpstr>
      <vt:lpstr>РАСПОЗНАВАНИЕ ЭМОЦИЙ ПО ИЗОБРАЖЕНИЯМ ЛИЦ С ИСПОЛЬЗОВАНИЕМ МЕТОДОВ КОМПЬЮТЕРНОГО ЗРЕНИЯ</vt:lpstr>
      <vt:lpstr>Введение и актуальность</vt:lpstr>
      <vt:lpstr>ЗадачИ и трудности</vt:lpstr>
      <vt:lpstr>Данные и предобработка</vt:lpstr>
      <vt:lpstr>Архитектуры моделей</vt:lpstr>
      <vt:lpstr>Результаты обучения</vt:lpstr>
      <vt:lpstr>Анализ видео (CAER-S)</vt:lpstr>
      <vt:lpstr>Ограничения и перспективы</vt:lpstr>
      <vt:lpstr>Спасибо за внимание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Михаил Голиков</cp:lastModifiedBy>
  <cp:revision>38</cp:revision>
  <dcterms:created xsi:type="dcterms:W3CDTF">2013-01-27T09:14:16Z</dcterms:created>
  <dcterms:modified xsi:type="dcterms:W3CDTF">2025-09-05T18:21:52Z</dcterms:modified>
  <cp:category/>
</cp:coreProperties>
</file>